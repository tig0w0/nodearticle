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NODEARTICLE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1F2A25"/>
                </a:solidFill>
                <a:latin typeface="Malgun Gothic"/>
              </a:rPr>
              <a:t>AI가 쓰는 에디터를 넘어,
근거와 구조를 관리하는 글쓰기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9718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C63"/>
                </a:solidFill>
                <a:latin typeface="Malgun Gothic"/>
              </a:rPr>
              <a:t>경쟁 서비스 조사와 NodeArticle 차별화 가설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886200"/>
            <a:ext cx="10698480" cy="114300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245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376F52"/>
                </a:solidFill>
                <a:latin typeface="Malgun Gothic"/>
              </a:rPr>
              <a:t>짧은 글은 자동화하고  ·  긴 글은 구조화한다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C63"/>
                </a:solidFill>
                <a:latin typeface="Malgun Gothic"/>
              </a:rPr>
              <a:t>2026.09.20  ·  Team discussion draft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01 / PRODUCT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하나의 인터페이스, 글의 복잡도에 따라 깊어지는 워크플로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별도 모드 전환 없이 같은 편집 환경에서 필요한 단계까지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359152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짧은 기사 / 빠른 종료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4617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A25"/>
                </a:solidFill>
                <a:latin typeface="Malgun Gothic"/>
              </a:rPr>
              <a:t>자료 입력
→ 사실 추출
→ 초안 자동생성
→ 근거 확인
→ 검토·송고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359152"/>
            <a:ext cx="4617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긴 기사 / 계속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017520"/>
            <a:ext cx="46177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A25"/>
                </a:solidFill>
                <a:latin typeface="Malgun Gothic"/>
              </a:rPr>
              <a:t>프로젝트
→ 자료·녹취 정리
→ Evidence
→ 노드 구조 설계
→ 비평·검증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92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C63"/>
                </a:solidFill>
                <a:latin typeface="Malgun Gothic"/>
              </a:rPr>
              <a:t>자동생성 후 빠른 검토·송고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0292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B6C63"/>
                </a:solidFill>
                <a:latin typeface="Malgun Gothic"/>
              </a:rPr>
              <a:t>같은 노드 그래프에서 정리·관리·검증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02 / COMPETITOR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경쟁 서비스는 어디에 강하고, NodeArticle과 어디서 겹치는가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기능 이름이 아니라 각 제품의 중심 작업과 NodeArticle의 연결 지점을 비교한다.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55648"/>
            <a:ext cx="141732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83664"/>
            <a:ext cx="12710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55648"/>
            <a:ext cx="233172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84832" y="1883664"/>
            <a:ext cx="2185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강한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55648"/>
            <a:ext cx="324612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883664"/>
            <a:ext cx="30998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NodeArticle과 공통점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755648"/>
            <a:ext cx="388620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54112" y="1883664"/>
            <a:ext cx="37398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핵심 차이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267712"/>
            <a:ext cx="14173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59152"/>
            <a:ext cx="1234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1">
                <a:solidFill>
                  <a:srgbClr val="376F52"/>
                </a:solidFill>
                <a:latin typeface="Malgun Gothic"/>
              </a:rPr>
              <a:t>Google Pinpoint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2267712"/>
            <a:ext cx="2331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20" y="2359152"/>
            <a:ext cx="21488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기자용 대규모 취재자료 조사·검색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267712"/>
            <a:ext cx="32461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2359152"/>
            <a:ext cx="30632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프로젝트/컬렉션, PDF·이미지·음성 분석, STT, AI 질의, 원문 근거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267712"/>
            <a:ext cx="38862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359152"/>
            <a:ext cx="3703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자료 조사 중심. Evidence와 기사 문단을 연결해 구조를 편집하는 것이 핵심은 아님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145536"/>
            <a:ext cx="14173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236976"/>
            <a:ext cx="1234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1">
                <a:solidFill>
                  <a:srgbClr val="376F52"/>
                </a:solidFill>
                <a:latin typeface="Malgun Gothic"/>
              </a:rPr>
              <a:t>Trint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145536"/>
            <a:ext cx="2331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0" y="3236976"/>
            <a:ext cx="21488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녹취 → 콘텐츠 제작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145536"/>
            <a:ext cx="32461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59" y="3236976"/>
            <a:ext cx="30632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STT, 타임코드, 인용 관리, Story Builder, 초안 작성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3145536"/>
            <a:ext cx="38862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236976"/>
            <a:ext cx="3703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녹취 중심. 다양한 Source→Evidence→Article 전체 provenance 관리와는 차이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023360"/>
            <a:ext cx="14173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114800"/>
            <a:ext cx="1234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1">
                <a:solidFill>
                  <a:srgbClr val="376F52"/>
                </a:solidFill>
                <a:latin typeface="Malgun Gothic"/>
              </a:rPr>
              <a:t>Scrivener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4023360"/>
            <a:ext cx="2331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03120" y="4114800"/>
            <a:ext cx="21488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장문 집필·구조 관리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023360"/>
            <a:ext cx="32461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59" y="4114800"/>
            <a:ext cx="30632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프로젝트, 연구자료, 카드/문단 재배치, 메타데이터, 버전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4023360"/>
            <a:ext cx="38862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4114800"/>
            <a:ext cx="3703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구조 편집에 강하지만 AI Evidence 추출·원자료 위치 추적·기사 자동화가 중심은 아님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901183"/>
            <a:ext cx="14173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992623"/>
            <a:ext cx="1234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1">
                <a:solidFill>
                  <a:srgbClr val="376F52"/>
                </a:solidFill>
                <a:latin typeface="Malgun Gothic"/>
              </a:rPr>
              <a:t>NotebookLM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0" y="4901183"/>
            <a:ext cx="23317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03120" y="4992623"/>
            <a:ext cx="21488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Source-grounded AI research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4901183"/>
            <a:ext cx="324612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59" y="4992623"/>
            <a:ext cx="30632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자료 기반 AI, citation, 원문 확인, 여러 source 통합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80960" y="4901183"/>
            <a:ext cx="38862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4992623"/>
            <a:ext cx="3703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" b="0">
                <a:solidFill>
                  <a:srgbClr val="1F2A25"/>
                </a:solidFill>
                <a:latin typeface="Malgun Gothic"/>
              </a:rPr>
              <a:t>자료 이해·질의에 강함. 실제 기사 문단 구조를 편집·관리하는 writing workspace와는 차이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Sources: Google Pinpoint Help · Trint · Literature &amp; Latte · Google NotebookLM (accessed 2026-09-20)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02 / COMPETITOR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경쟁 서비스 비교 — 뉴스룸·문서 관리·범용 워크스페이스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같은 기능이 있어도 제품이 최적화하는 작업 단위가 다르다.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55648"/>
            <a:ext cx="141732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83664"/>
            <a:ext cx="12710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55648"/>
            <a:ext cx="233172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84832" y="1883664"/>
            <a:ext cx="2185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강한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55648"/>
            <a:ext cx="324612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883664"/>
            <a:ext cx="30998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NodeArticle과 공통점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755648"/>
            <a:ext cx="3886200" cy="475488"/>
          </a:xfrm>
          <a:prstGeom prst="roundRect">
            <a:avLst/>
          </a:prstGeom>
          <a:solidFill>
            <a:srgbClr val="376F52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54112" y="1883664"/>
            <a:ext cx="373989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핵심 차이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377440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87168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>
                <a:solidFill>
                  <a:srgbClr val="376F52"/>
                </a:solidFill>
                <a:latin typeface="Malgun Gothic"/>
              </a:rPr>
              <a:t>DocumentCloud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2377440"/>
            <a:ext cx="23317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3120" y="2487168"/>
            <a:ext cx="21488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기자용 primary-source 관리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377440"/>
            <a:ext cx="32461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2487168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문서 저장, 프로젝트, 검색, 주석, 분석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377440"/>
            <a:ext cx="38862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487168"/>
            <a:ext cx="3703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취재자료 관리 중심. 자료에서 최종 기사 구조까지 이어지는 작성 환경은 아님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401568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511296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>
                <a:solidFill>
                  <a:srgbClr val="376F52"/>
                </a:solidFill>
                <a:latin typeface="Malgun Gothic"/>
              </a:rPr>
              <a:t>Superdesk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401568"/>
            <a:ext cx="23317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0" y="3511296"/>
            <a:ext cx="21488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뉴스룸 전체 workflow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401568"/>
            <a:ext cx="32461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59" y="3511296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기사 작성, 편집, 협업, 버전/배포 workflow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3401568"/>
            <a:ext cx="38862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511296"/>
            <a:ext cx="3703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조직 단위 newsroom 운영에 강함. 개인 기자의 Source→Evidence→Article 사고과정 관리와 초점이 다름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425696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535424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1">
                <a:solidFill>
                  <a:srgbClr val="376F52"/>
                </a:solidFill>
                <a:latin typeface="Malgun Gothic"/>
              </a:rPr>
              <a:t>Notion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4425696"/>
            <a:ext cx="23317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03120" y="4535424"/>
            <a:ext cx="21488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범용 workspace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4425696"/>
            <a:ext cx="32461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59" y="4535424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블록 기반 작성, 프로젝트·자료 관리, AI 작성/검색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4425696"/>
            <a:ext cx="388620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4535424"/>
            <a:ext cx="3703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9" b="0">
                <a:solidFill>
                  <a:srgbClr val="1F2A25"/>
                </a:solidFill>
                <a:latin typeface="Malgun Gothic"/>
              </a:rPr>
              <a:t>범용성이 강점. 기자용 provenance·원자료 위치·기사 구조에 특화되지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669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시장 공백 후보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5632704"/>
            <a:ext cx="8869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조사·녹취·구조·검증 기능을 “기사 문단의 provenance”를 중심으로 하나의 작성 흐름에 연결하는 경험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Sources: DocumentCloud · Superdesk · Notion (accessed 2026-09-20)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03 / CLOSEST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Pinpoint + Trint가 가장 가까운 경고 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“근거를 보여준다”와 “녹취에서 기사로 간다”만으로는 차별화가 어렵다.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120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0428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Google Pinpoint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852928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• 컬렉션 기반 자료 관리
• PDF·이미지·오디오 검색/전사
• Gemini 질의 + supporting evidence
• 실제 문서/오디오를 열어 검토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2120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230428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Trint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52928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• STT + 화자/타임코드
• 여러 transcript의 quote 선택
• Story Builder에서 drag &amp; drop
• 원본 quote timecode 유지·재생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Sources: support.google.com/pinpoint; info.trint.com Story Builder; trint.com/newsrooms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04 / LONG-FORM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Scrivener가 증명한 것: “구조를 카드로 다루는 글쓰기”는 유효하다.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Scrivener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14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A25"/>
                </a:solidFill>
                <a:latin typeface="Malgun Gothic"/>
              </a:rPr>
              <a:t>섹션 ↔ Index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1546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카드를 움직이면 실제 원고 순서가 바뀐다.
Research 자료, metadata, snapshot, split view까지 한 프로젝트에서 관리한다.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76F52"/>
                </a:solidFill>
                <a:latin typeface="Malgun Gothic"/>
              </a:rPr>
              <a:t>NodeArticle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14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A25"/>
                </a:solidFill>
                <a:latin typeface="Malgun Gothic"/>
              </a:rPr>
              <a:t>Evidence ↔ Article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54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A25"/>
                </a:solidFill>
                <a:latin typeface="Malgun Gothic"/>
              </a:rPr>
              <a:t>문단 카드가 단순한 구조 단위가 아니라
“어떤 원자료의 어느 위치에서 왔는가”까지 가진다.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5780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25"/>
                </a:solidFill>
                <a:latin typeface="Malgun Gothic"/>
              </a:rPr>
              <a:t>구조 편집 UX는 새롭지 않아도, provenance가 붙은 구조 편집은 차별화 후보가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5B6C63"/>
                </a:solidFill>
                <a:latin typeface="Malgun Gothic"/>
              </a:rPr>
              <a:t>Source: literatureandlatte.com/scrivener/overview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05 / NODEARTICLE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차별화의 핵심 가설: 출처 계보(Provenance)를 글의 구조까지 유지한다.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240280"/>
            <a:ext cx="2514600" cy="201168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SOURCE NODE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PDF · 녹음 · 웹 · 메모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6391" y="29077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240280"/>
            <a:ext cx="2514600" cy="201168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EVIDENCE 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p.27 · 14:32-15:08 · 표 · 인용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29077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240280"/>
            <a:ext cx="2514600" cy="201168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ARTICLE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실제 기사 문단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29077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24028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76F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19" y="25146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76F52"/>
                </a:solidFill>
                <a:latin typeface="Malgun Gothic"/>
              </a:rPr>
              <a:t>ARTICLE 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19" y="3090672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2A25"/>
                </a:solidFill>
                <a:latin typeface="Malgun Gothic"/>
              </a:rPr>
              <a:t>문단 순서 · 역할 · 의미 관계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006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25"/>
                </a:solidFill>
                <a:latin typeface="Malgun Gothic"/>
              </a:rPr>
              <a:t>생성된 문단은 “나중에 근거를 추측해 붙이는 것”이 아니라 생성 순간부터 실제 Evidence와 연결된다.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06 / VERIFY-FIRST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AI의 답을 믿게 하지 말고, 원자료를 직접 보게 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128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6F52"/>
                </a:solidFill>
                <a:latin typeface="Malgun Gothic"/>
              </a:rPr>
              <a:t>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194560"/>
            <a:ext cx="8458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25"/>
                </a:solidFill>
                <a:latin typeface="Malgun Gothic"/>
              </a:rPr>
              <a:t>근거 클릭 → 실제 p.27 열기 → 관련 문장/표 강조 → 앞뒤 페이지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5468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4015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6F52"/>
                </a:solidFill>
                <a:latin typeface="Malgun Gothic"/>
              </a:rPr>
              <a:t>녹음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383280"/>
            <a:ext cx="8458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25"/>
                </a:solidFill>
                <a:latin typeface="Malgun Gothic"/>
              </a:rPr>
              <a:t>근거 클릭 → 실제 14:32 재생 → STT 동기화 → 앞뒤 구간 청취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902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76F52"/>
                </a:solidFill>
                <a:latin typeface="Malgun Gothic"/>
              </a:rPr>
              <a:t>웹/문서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572000"/>
            <a:ext cx="8458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A25"/>
                </a:solidFill>
                <a:latin typeface="Malgun Gothic"/>
              </a:rPr>
              <a:t>근거 클릭 → 원문 위치 → 인용 범위 확인 → 맥락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623560"/>
            <a:ext cx="10149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B6C63"/>
                </a:solidFill>
                <a:latin typeface="Malgun Gothic"/>
              </a:rPr>
              <a:t>목표: “할루시네이션 제로”를 주장하는 것이 아니라, AI의 설명을 최종 근거로 삼지 않아도 되는 UX.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07 / 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기능 하나가 아니라 “연결이 끊기지 않는 워크플로”가 경쟁력 후보다.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자료 조사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Pinpoint / DocumentCloud / NotebookLM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87451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프로젝트 Source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2432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녹취·인용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624327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Trint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24327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24327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Evidence + 원본 타임코드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74135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장문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374135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Scrivener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374135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74135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문단 Node + AI 역할/소제목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기사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12394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Trint / Superdesk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123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1239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Evidence가 유지된 Article 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737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76F52"/>
                </a:solidFill>
                <a:latin typeface="Malgun Gothic"/>
              </a:rPr>
              <a:t>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73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C63"/>
                </a:solidFill>
                <a:latin typeface="Malgun Gothic"/>
              </a:rPr>
              <a:t>각 서비스 일부 제공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8737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8737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문단별 근거 상태 + 원자료 직접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80644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76F52"/>
                </a:solidFill>
                <a:latin typeface="Malgun Gothic"/>
              </a:rPr>
              <a:t>NodeArticle = Research workspace + Evidence graph + Structural editor + Verify-first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08 / FEATURE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지금까지의 기능이 하나의 데이터 흐름으로 합쳐진다.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프로젝트 폴더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46504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0824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자료/STT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2424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Evidence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37176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기사 노드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AI 소제목·분류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5512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9832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구조 편집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4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584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Grill 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15016" y="2724912"/>
            <a:ext cx="21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76F52"/>
                </a:solidFill>
                <a:latin typeface="Malgun Gothi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16184" y="2423160"/>
            <a:ext cx="1243584" cy="96012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89336" y="2697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F2A25"/>
                </a:solidFill>
                <a:latin typeface="Malgun Gothic"/>
              </a:rPr>
              <a:t>검증·버전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짧은 기사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42519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Source → Evidence → 자동 초안 → 검증 → 송고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6F52"/>
                </a:solidFill>
                <a:latin typeface="Malgun Gothic"/>
              </a:rPr>
              <a:t>긴 기사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4983480"/>
            <a:ext cx="8778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Project → Sources → Evidence → Nodes → Structure → Critique → Verification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09 / COMPETITIVE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우리가 이기려면 피해야 할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920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기능 모음이 되는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202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STT·요약·RAG·자동작성만 나열하면 기존 제품보다 약하다.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154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“근거 표시”만 차별점으로 삼는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1546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Pinpoint·NotebookLM·Trint도 source-grounding을 강화하고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891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389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2A25"/>
                </a:solidFill>
                <a:latin typeface="Malgun Gothic"/>
              </a:rPr>
              <a:t>노드 UI 자체를 혁신으로 보는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C63"/>
                </a:solidFill>
                <a:latin typeface="Malgun Gothic"/>
              </a:rPr>
              <a:t>Scrivener는 오래전부터 카드 기반 구조 편집을 제공한다.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692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25"/>
                </a:solidFill>
                <a:latin typeface="Malgun Gothic"/>
              </a:rPr>
              <a:t>따라서 moat 후보는 “근거의 정확한 위치 + 문단 구조 + 작성 이력”을 하나의 graph로 유지하는 경험.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10 /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2A25"/>
                </a:solidFill>
                <a:latin typeface="Malgun Gothic"/>
              </a:rPr>
              <a:t>차별화는 아직 가설이다. 기자에게 확인해야 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0574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011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긴 기사에서 “이 문단이 어떤 취재자료에서 왔는지” 다시 찾기 어려운가?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88920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718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926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여러 녹취·문서·메모를 오가며 어느 자료를 어디에 썼는지 관리하기 어려운가?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03320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8862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840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AI가 답을 요약하는 것보다 실제 페이지/녹음 구간을 즉시 여는 것이 중요한가?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17720"/>
            <a:ext cx="10469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006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76F52"/>
                </a:solidFill>
                <a:latin typeface="Malgun 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2A25"/>
                </a:solidFill>
                <a:latin typeface="Malgun Gothic"/>
              </a:rPr>
              <a:t>문단을 카드처럼 재배치하고 AI가 역할·소제목을 붙이는 방식이 실제 편집보다 빠른가?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76F52"/>
                </a:solidFill>
                <a:latin typeface="Malgun Gothic"/>
              </a:rPr>
              <a:t>다음 단계: 설문 + 5~10명 심층 인터뷰 + 현재 UI 데모 관찰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76F52"/>
                </a:solidFill>
                <a:latin typeface="Malgun Gothic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1F2A25"/>
                </a:solidFill>
                <a:latin typeface="Malgun Gothic"/>
              </a:rPr>
              <a:t>짧은 글은 빠르게 완성하고,
긴 글은 같은 공간에서 계속 구조화한다.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788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A25"/>
                </a:solidFill>
                <a:latin typeface="Malgun Gothic"/>
              </a:rPr>
              <a:t>NodeArticle은 취재자료부터 작성·검증·편집까지 연결하면서
각 문단이 어떤 근거에서 만들어졌는지를 끝까지 추적할 수 있게 하는 AI 글쓰기 워크스페이스.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251960"/>
            <a:ext cx="10698480" cy="1005840"/>
          </a:xfrm>
          <a:prstGeom prst="roundRect">
            <a:avLst/>
          </a:prstGeom>
          <a:solidFill>
            <a:srgbClr val="E1EBE6"/>
          </a:solidFill>
          <a:ln w="12700">
            <a:solidFill>
              <a:srgbClr val="E1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55371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376F52"/>
                </a:solidFill>
                <a:latin typeface="Malgun Gothic"/>
              </a:rPr>
              <a:t>“AI가 글을 써주는 에디터” → “근거와 글의 구조를 끝까지 연결하는 시스템”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>
                <a:solidFill>
                  <a:srgbClr val="5B6C63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