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6F52"/>
                </a:solidFill>
                <a:latin typeface="Malgun Gothic"/>
              </a:rPr>
              <a:t>NODEARTICLE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F2A25"/>
                </a:solidFill>
                <a:latin typeface="Malgun Gothic"/>
              </a:rPr>
              <a:t>AI가 쓰는 에디터를 넘어,
근거와 구조를 관리하는 글쓰기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718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C63"/>
                </a:solidFill>
                <a:latin typeface="Malgun Gothic"/>
              </a:rPr>
              <a:t>경쟁 서비스 조사와 NodeArticle 차별화 가설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3886200"/>
            <a:ext cx="10698480" cy="1143000"/>
          </a:xfrm>
          <a:prstGeom prst="roundRect">
            <a:avLst/>
          </a:prstGeom>
          <a:solidFill>
            <a:srgbClr val="E1EBE6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2245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376F52"/>
                </a:solidFill>
                <a:latin typeface="Malgun Gothic"/>
              </a:rPr>
              <a:t>짧은 글은 자동화하고  ·  긴 글은 구조화한다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989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C63"/>
                </a:solidFill>
                <a:latin typeface="Malgun Gothic"/>
              </a:rPr>
              <a:t>2026.09.20  ·  Team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B6C63"/>
                </a:solidFill>
                <a:latin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6F52"/>
                </a:solidFill>
                <a:latin typeface="Malgun Gothic"/>
              </a:rPr>
              <a:t>01 / PRODUCT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A25"/>
                </a:solidFill>
                <a:latin typeface="Malgun Gothic"/>
              </a:rPr>
              <a:t>하나의 서비스, 두 가지 글쓰기 모드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C63"/>
                </a:solidFill>
                <a:latin typeface="Malgun Gothic"/>
              </a:rPr>
              <a:t>기사의 길이와 복잡도에 따라 AI의 역할이 달라진다.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52578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59152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6F52"/>
                </a:solidFill>
                <a:latin typeface="Malgun Gothic"/>
              </a:rPr>
              <a:t>FAST / 짧은 기사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17520"/>
            <a:ext cx="46177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A25"/>
                </a:solidFill>
                <a:latin typeface="Malgun Gothic"/>
              </a:rPr>
              <a:t>자료 입력
→ 사실 추출
→ 초안 자동생성
→ 근거 확인
→ 검토·송고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057400"/>
            <a:ext cx="52578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359152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6F52"/>
                </a:solidFill>
                <a:latin typeface="Malgun Gothic"/>
              </a:rPr>
              <a:t>DEEP / 특집·기획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017520"/>
            <a:ext cx="46177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A25"/>
                </a:solidFill>
                <a:latin typeface="Malgun Gothic"/>
              </a:rPr>
              <a:t>프로젝트
→ 자료·녹취 정리
→ Evidence
→ 노드 구조 설계
→ 비평·검증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0292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B6C63"/>
                </a:solidFill>
                <a:latin typeface="Malgun Gothic"/>
              </a:rPr>
              <a:t>자동화 중심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50292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B6C63"/>
                </a:solidFill>
                <a:latin typeface="Malgun Gothic"/>
              </a:rPr>
              <a:t>정리·관리·검증 중심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B6C63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6F52"/>
                </a:solidFill>
                <a:latin typeface="Malgun Gothic"/>
              </a:rPr>
              <a:t>02 / MARKET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A25"/>
                </a:solidFill>
                <a:latin typeface="Malgun Gothic"/>
              </a:rPr>
              <a:t>경쟁자는 이미 강하다. 다만 강점이 서로 분절돼 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C63"/>
                </a:solidFill>
                <a:latin typeface="Malgun Gothic"/>
              </a:rPr>
              <a:t>조사 범위: 기자용 조사·녹취·장문 집필·뉴스룸 워크플로·source-grounded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0848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6F52"/>
                </a:solidFill>
                <a:latin typeface="Malgun Gothic"/>
              </a:rPr>
              <a:t>Google Pinpoint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39" y="2084832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Malgun Gothic"/>
              </a:rPr>
              <a:t>대규모 취재자료 검색·OCR·STT·Gemini 연구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0848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6F52"/>
                </a:solidFill>
                <a:latin typeface="Malgun Gothic"/>
              </a:rPr>
              <a:t>Trint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084832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Malgun Gothic"/>
              </a:rPr>
              <a:t>녹취·타임코드·인용·Story Builder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73552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438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6F52"/>
                </a:solidFill>
                <a:latin typeface="Malgun Gothic"/>
              </a:rPr>
              <a:t>Scrivener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3438144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Malgun Gothic"/>
              </a:rPr>
              <a:t>장문 프로젝트·카드 재배열·연구자료·버전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73552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3438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6F52"/>
                </a:solidFill>
                <a:latin typeface="Malgun Gothic"/>
              </a:rPr>
              <a:t>NotebookLM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438144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Malgun Gothic"/>
              </a:rPr>
              <a:t>자료 기반 AI·citation·source viewer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26864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7914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6F52"/>
                </a:solidFill>
                <a:latin typeface="Malgun Gothic"/>
              </a:rPr>
              <a:t>DocumentCloud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39" y="4791456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Malgun Gothic"/>
              </a:rPr>
              <a:t>primary-source 문서 관리·검색·주석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626864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47914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6F52"/>
                </a:solidFill>
                <a:latin typeface="Malgun Gothic"/>
              </a:rPr>
              <a:t>Superdesk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791456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Malgun Gothic"/>
              </a:rPr>
              <a:t>뉴스룸 제작·협업·배포 워크플로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B6C63"/>
                </a:solidFill>
                <a:latin typeface="Malgun Gothi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19088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C63"/>
                </a:solidFill>
                <a:latin typeface="Malgun Gothic"/>
              </a:rPr>
              <a:t>Sources: Google Pinpoint Help; Trint; Literature &amp; Latte; Google NotebookLM; DocumentCloud; Superdesk (accessed 2026-09-20)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6F52"/>
                </a:solidFill>
                <a:latin typeface="Malgun Gothic"/>
              </a:rPr>
              <a:t>03 / CLOSEST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A25"/>
                </a:solidFill>
                <a:latin typeface="Malgun Gothic"/>
              </a:rPr>
              <a:t>Pinpoint + Trint가 가장 가까운 경고 신호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C63"/>
                </a:solidFill>
                <a:latin typeface="Malgun Gothic"/>
              </a:rPr>
              <a:t>“근거를 보여준다”와 “녹취에서 기사로 간다”만으로는 차별화가 어렵다.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30428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6F52"/>
                </a:solidFill>
                <a:latin typeface="Malgun Gothic"/>
              </a:rPr>
              <a:t>Google Pinpoint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852928"/>
            <a:ext cx="4434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25"/>
                </a:solidFill>
                <a:latin typeface="Malgun Gothic"/>
              </a:rPr>
              <a:t>• 컬렉션 기반 자료 관리
• PDF·이미지·오디오 검색/전사
• Gemini 질의 + supporting evidence
• 실제 문서/오디오를 열어 검토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230428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6F52"/>
                </a:solidFill>
                <a:latin typeface="Malgun Gothic"/>
              </a:rPr>
              <a:t>Trint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852928"/>
            <a:ext cx="4434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25"/>
                </a:solidFill>
                <a:latin typeface="Malgun Gothic"/>
              </a:rPr>
              <a:t>• STT + 화자/타임코드
• 여러 transcript의 quote 선택
• Story Builder에서 drag &amp; drop
• 원본 quote timecode 유지·재생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B6C63"/>
                </a:solidFill>
                <a:latin typeface="Malgun Gothic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C63"/>
                </a:solidFill>
                <a:latin typeface="Malgun Gothic"/>
              </a:rPr>
              <a:t>Sources: support.google.com/pinpoint; info.trint.com Story Builder; trint.com/newsrooms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6F52"/>
                </a:solidFill>
                <a:latin typeface="Malgun Gothic"/>
              </a:rPr>
              <a:t>04 / LONG-FORM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A25"/>
                </a:solidFill>
                <a:latin typeface="Malgun Gothic"/>
              </a:rPr>
              <a:t>Scrivener가 증명한 것: “구조를 카드로 다루는 글쓰기”는 유효하다.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6F52"/>
                </a:solidFill>
                <a:latin typeface="Malgun Gothic"/>
              </a:rPr>
              <a:t>Scrivener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146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A25"/>
                </a:solidFill>
                <a:latin typeface="Malgun Gothic"/>
              </a:rPr>
              <a:t>섹션 ↔ Index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1546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25"/>
                </a:solidFill>
                <a:latin typeface="Malgun Gothic"/>
              </a:rPr>
              <a:t>카드를 움직이면 실제 원고 순서가 바뀐다.
Research 자료, metadata, snapshot, split view까지 한 프로젝트에서 관리한다.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6F52"/>
                </a:solidFill>
                <a:latin typeface="Malgun Gothic"/>
              </a:rPr>
              <a:t>NodeArticle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14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A25"/>
                </a:solidFill>
                <a:latin typeface="Malgun Gothic"/>
              </a:rPr>
              <a:t>Evidence ↔ Article 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1546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25"/>
                </a:solidFill>
                <a:latin typeface="Malgun Gothic"/>
              </a:rPr>
              <a:t>문단 카드가 단순한 구조 단위가 아니라
“어떤 원자료의 어느 위치에서 왔는가”까지 가진다.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5780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2A25"/>
                </a:solidFill>
                <a:latin typeface="Malgun Gothic"/>
              </a:rPr>
              <a:t>구조 편집 UX는 새롭지 않아도, provenance가 붙은 구조 편집은 차별화 후보가 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B6C63"/>
                </a:solidFill>
                <a:latin typeface="Malgun Gothic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C63"/>
                </a:solidFill>
                <a:latin typeface="Malgun Gothic"/>
              </a:rPr>
              <a:t>Source: literatureandlatte.com/scrivener/overview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6F52"/>
                </a:solidFill>
                <a:latin typeface="Malgun Gothic"/>
              </a:rPr>
              <a:t>05 / NODEARTICLE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A25"/>
                </a:solidFill>
                <a:latin typeface="Malgun Gothic"/>
              </a:rPr>
              <a:t>차별화의 핵심 가설: 출처 계보(Provenance)를 글의 구조까지 유지한다.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240280"/>
            <a:ext cx="2514600" cy="2011680"/>
          </a:xfrm>
          <a:prstGeom prst="roundRect">
            <a:avLst/>
          </a:prstGeom>
          <a:solidFill>
            <a:srgbClr val="E1EBE6"/>
          </a:solidFill>
          <a:ln w="12700">
            <a:solidFill>
              <a:srgbClr val="376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76F52"/>
                </a:solidFill>
                <a:latin typeface="Malgun Gothic"/>
              </a:rPr>
              <a:t>SOURCE NODE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90672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25"/>
                </a:solidFill>
                <a:latin typeface="Malgun Gothic"/>
              </a:rPr>
              <a:t>PDF · 녹음 · 웹 · 메모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36391" y="29077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76F52"/>
                </a:solidFill>
                <a:latin typeface="Malgun Gothi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240280"/>
            <a:ext cx="2514600" cy="2011680"/>
          </a:xfrm>
          <a:prstGeom prst="roundRect">
            <a:avLst/>
          </a:prstGeom>
          <a:solidFill>
            <a:srgbClr val="E1EBE6"/>
          </a:solidFill>
          <a:ln w="12700">
            <a:solidFill>
              <a:srgbClr val="376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5146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76F52"/>
                </a:solidFill>
                <a:latin typeface="Malgun Gothic"/>
              </a:rPr>
              <a:t>EVIDENCE NODE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090672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25"/>
                </a:solidFill>
                <a:latin typeface="Malgun Gothic"/>
              </a:rPr>
              <a:t>p.27 · 14:32-15:08 · 표 · 인용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6752" y="29077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76F52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240280"/>
            <a:ext cx="2514600" cy="2011680"/>
          </a:xfrm>
          <a:prstGeom prst="roundRect">
            <a:avLst/>
          </a:prstGeom>
          <a:solidFill>
            <a:srgbClr val="E1EBE6"/>
          </a:solidFill>
          <a:ln w="12700">
            <a:solidFill>
              <a:srgbClr val="376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5146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76F52"/>
                </a:solidFill>
                <a:latin typeface="Malgun Gothic"/>
              </a:rPr>
              <a:t>ARTICLE 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090672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25"/>
                </a:solidFill>
                <a:latin typeface="Malgun Gothic"/>
              </a:rPr>
              <a:t>실제 기사 문단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7112" y="29077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76F52"/>
                </a:solidFill>
                <a:latin typeface="Malgun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240280"/>
            <a:ext cx="2514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6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25146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76F52"/>
                </a:solidFill>
                <a:latin typeface="Malgun Gothic"/>
              </a:rPr>
              <a:t>ARTICLE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3090672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25"/>
                </a:solidFill>
                <a:latin typeface="Malgun Gothic"/>
              </a:rPr>
              <a:t>문단 순서 · 역할 · 의미 관계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0060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2A25"/>
                </a:solidFill>
                <a:latin typeface="Malgun Gothic"/>
              </a:rPr>
              <a:t>생성된 문단은 “나중에 근거를 추측해 붙이는 것”이 아니라 생성 순간부터 실제 Evidence와 연결된다.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B6C63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6F52"/>
                </a:solidFill>
                <a:latin typeface="Malgun Gothic"/>
              </a:rPr>
              <a:t>06 / VERIFY-FIRST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A25"/>
                </a:solidFill>
                <a:latin typeface="Malgun Gothic"/>
              </a:rPr>
              <a:t>AI의 답을 믿게 하지 말고, 원자료를 직접 보게 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10515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128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76F52"/>
                </a:solidFill>
                <a:latin typeface="Malgun Gothic"/>
              </a:rPr>
              <a:t>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194560"/>
            <a:ext cx="8458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25"/>
                </a:solidFill>
                <a:latin typeface="Malgun Gothic"/>
              </a:rPr>
              <a:t>근거 클릭 → 실제 p.27 열기 → 관련 문장/표 강조 → 앞뒤 페이지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54680"/>
            <a:ext cx="10515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4015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76F52"/>
                </a:solidFill>
                <a:latin typeface="Malgun Gothic"/>
              </a:rPr>
              <a:t>녹음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383280"/>
            <a:ext cx="8458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25"/>
                </a:solidFill>
                <a:latin typeface="Malgun Gothic"/>
              </a:rPr>
              <a:t>근거 클릭 → 실제 14:32 재생 → STT 동기화 → 앞뒤 구간 청취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43400"/>
            <a:ext cx="10515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5902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76F52"/>
                </a:solidFill>
                <a:latin typeface="Malgun Gothic"/>
              </a:rPr>
              <a:t>웹/문서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4572000"/>
            <a:ext cx="8458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25"/>
                </a:solidFill>
                <a:latin typeface="Malgun Gothic"/>
              </a:rPr>
              <a:t>근거 클릭 → 원문 위치 → 인용 범위 확인 → 맥락 검토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62356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B6C63"/>
                </a:solidFill>
                <a:latin typeface="Malgun Gothic"/>
              </a:rPr>
              <a:t>목표: “할루시네이션 제로”를 주장하는 것이 아니라, AI의 설명을 최종 근거로 삼지 않아도 되는 UX.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B6C63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6F52"/>
                </a:solidFill>
                <a:latin typeface="Malgun Gothic"/>
              </a:rPr>
              <a:t>07 / 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A25"/>
                </a:solidFill>
                <a:latin typeface="Malgun Gothic"/>
              </a:rPr>
              <a:t>기능 하나가 아니라 “연결이 끊기지 않는 워크플로”가 경쟁력 후보다.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6F52"/>
                </a:solidFill>
                <a:latin typeface="Malgun Gothic"/>
              </a:rPr>
              <a:t>자료 조사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745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63"/>
                </a:solidFill>
                <a:latin typeface="Malgun Gothic"/>
              </a:rPr>
              <a:t>Pinpoint / DocumentCloud / NotebookLM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87451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6F52"/>
                </a:solidFill>
                <a:latin typeface="Malgun Gothic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87451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25"/>
                </a:solidFill>
                <a:latin typeface="Malgun Gothic"/>
              </a:rPr>
              <a:t>프로젝트 Source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2432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6F52"/>
                </a:solidFill>
                <a:latin typeface="Malgun Gothic"/>
              </a:rPr>
              <a:t>녹취·인용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624327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63"/>
                </a:solidFill>
                <a:latin typeface="Malgun Gothic"/>
              </a:rPr>
              <a:t>Trint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624327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6F52"/>
                </a:solidFill>
                <a:latin typeface="Malgun Gothic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24327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25"/>
                </a:solidFill>
                <a:latin typeface="Malgun Gothic"/>
              </a:rPr>
              <a:t>Evidence + 원본 타임코드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7413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6F52"/>
                </a:solidFill>
                <a:latin typeface="Malgun Gothic"/>
              </a:rPr>
              <a:t>장문 구조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374135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63"/>
                </a:solidFill>
                <a:latin typeface="Malgun Gothic"/>
              </a:rPr>
              <a:t>Scrivener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374135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6F52"/>
                </a:solidFill>
                <a:latin typeface="Malgun Gothic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374135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25"/>
                </a:solidFill>
                <a:latin typeface="Malgun Gothic"/>
              </a:rPr>
              <a:t>문단 Node + AI 역할/소제목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239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6F52"/>
                </a:solidFill>
                <a:latin typeface="Malgun Gothic"/>
              </a:rPr>
              <a:t>기사 작성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12394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63"/>
                </a:solidFill>
                <a:latin typeface="Malgun Gothic"/>
              </a:rPr>
              <a:t>Trint / Superdesk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41239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6F52"/>
                </a:solidFill>
                <a:latin typeface="Malgun Gothic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12394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25"/>
                </a:solidFill>
                <a:latin typeface="Malgun Gothic"/>
              </a:rPr>
              <a:t>Evidence가 유지된 Article Node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737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6F52"/>
                </a:solidFill>
                <a:latin typeface="Malgun Gothic"/>
              </a:rPr>
              <a:t>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8737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63"/>
                </a:solidFill>
                <a:latin typeface="Malgun Gothic"/>
              </a:rPr>
              <a:t>각 서비스 일부 제공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48737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6F52"/>
                </a:solidFill>
                <a:latin typeface="Malgun Gothic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8737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25"/>
                </a:solidFill>
                <a:latin typeface="Malgun Gothic"/>
              </a:rPr>
              <a:t>문단별 근거 상태 + 원자료 직접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80644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76F52"/>
                </a:solidFill>
                <a:latin typeface="Malgun Gothic"/>
              </a:rPr>
              <a:t>NodeArticle = Research workspace + Evidence graph + Structural editor + Verify-first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B6C63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6F52"/>
                </a:solidFill>
                <a:latin typeface="Malgun Gothic"/>
              </a:rPr>
              <a:t>08 / FEATURE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A25"/>
                </a:solidFill>
                <a:latin typeface="Malgun Gothic"/>
              </a:rPr>
              <a:t>지금까지의 기능이 하나의 데이터 흐름으로 합쳐진다.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423160"/>
            <a:ext cx="1243584" cy="960120"/>
          </a:xfrm>
          <a:prstGeom prst="roundRect">
            <a:avLst/>
          </a:prstGeom>
          <a:solidFill>
            <a:srgbClr val="E1EBE6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2697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A25"/>
                </a:solidFill>
                <a:latin typeface="Malgun Gothic"/>
              </a:rPr>
              <a:t>프로젝트 폴더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2724912"/>
            <a:ext cx="21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76F52"/>
                </a:solidFill>
                <a:latin typeface="Malgun Gothic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47672" y="2423160"/>
            <a:ext cx="1243584" cy="960120"/>
          </a:xfrm>
          <a:prstGeom prst="roundRect">
            <a:avLst/>
          </a:prstGeom>
          <a:solidFill>
            <a:srgbClr val="E1EBE6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20824" y="2697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A25"/>
                </a:solidFill>
                <a:latin typeface="Malgun Gothic"/>
              </a:rPr>
              <a:t>자료/STT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1256" y="2724912"/>
            <a:ext cx="21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76F52"/>
                </a:solidFill>
                <a:latin typeface="Malgun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2424" y="2423160"/>
            <a:ext cx="1243584" cy="960120"/>
          </a:xfrm>
          <a:prstGeom prst="roundRect">
            <a:avLst/>
          </a:prstGeom>
          <a:solidFill>
            <a:srgbClr val="E1EBE6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5576" y="2697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A25"/>
                </a:solidFill>
                <a:latin typeface="Malgun Gothic"/>
              </a:rPr>
              <a:t>Evidence 추출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724912"/>
            <a:ext cx="21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76F52"/>
                </a:solidFill>
                <a:latin typeface="Malgun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37176" y="2423160"/>
            <a:ext cx="1243584" cy="960120"/>
          </a:xfrm>
          <a:prstGeom prst="roundRect">
            <a:avLst/>
          </a:prstGeom>
          <a:solidFill>
            <a:srgbClr val="E1EBE6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0328" y="2697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A25"/>
                </a:solidFill>
                <a:latin typeface="Malgun Gothic"/>
              </a:rPr>
              <a:t>기사 노드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724912"/>
            <a:ext cx="21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76F52"/>
                </a:solidFill>
                <a:latin typeface="Malgun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2423160"/>
            <a:ext cx="1243584" cy="960120"/>
          </a:xfrm>
          <a:prstGeom prst="roundRect">
            <a:avLst/>
          </a:prstGeom>
          <a:solidFill>
            <a:srgbClr val="E1EBE6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697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A25"/>
                </a:solidFill>
                <a:latin typeface="Malgun Gothic"/>
              </a:rPr>
              <a:t>AI 소제목·분류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2724912"/>
            <a:ext cx="21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76F52"/>
                </a:solidFill>
                <a:latin typeface="Malgun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80" y="2423160"/>
            <a:ext cx="1243584" cy="960120"/>
          </a:xfrm>
          <a:prstGeom prst="roundRect">
            <a:avLst/>
          </a:prstGeom>
          <a:solidFill>
            <a:srgbClr val="E1EBE6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2" y="2697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A25"/>
                </a:solidFill>
                <a:latin typeface="Malgun Gothic"/>
              </a:rPr>
              <a:t>구조 편집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0264" y="2724912"/>
            <a:ext cx="21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76F52"/>
                </a:solidFill>
                <a:latin typeface="Malgun 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71432" y="2423160"/>
            <a:ext cx="1243584" cy="960120"/>
          </a:xfrm>
          <a:prstGeom prst="roundRect">
            <a:avLst/>
          </a:prstGeom>
          <a:solidFill>
            <a:srgbClr val="E1EBE6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44584" y="2697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A25"/>
                </a:solidFill>
                <a:latin typeface="Malgun Gothic"/>
              </a:rPr>
              <a:t>Grill 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15016" y="2724912"/>
            <a:ext cx="21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76F52"/>
                </a:solidFill>
                <a:latin typeface="Malgun Gothic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16184" y="2423160"/>
            <a:ext cx="1243584" cy="960120"/>
          </a:xfrm>
          <a:prstGeom prst="roundRect">
            <a:avLst/>
          </a:prstGeom>
          <a:solidFill>
            <a:srgbClr val="E1EBE6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89336" y="2697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A25"/>
                </a:solidFill>
                <a:latin typeface="Malgun Gothic"/>
              </a:rPr>
              <a:t>검증·버전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2519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6F52"/>
                </a:solidFill>
                <a:latin typeface="Malgun Gothic"/>
              </a:rPr>
              <a:t>짧은 기사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2519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25"/>
                </a:solidFill>
                <a:latin typeface="Malgun Gothic"/>
              </a:rPr>
              <a:t>Source → Evidence → 자동 초안 → 검증 → 송고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834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6F52"/>
                </a:solidFill>
                <a:latin typeface="Malgun Gothic"/>
              </a:rPr>
              <a:t>긴 기사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98348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25"/>
                </a:solidFill>
                <a:latin typeface="Malgun Gothic"/>
              </a:rPr>
              <a:t>Project → Sources → Evidence → Nodes → Structure → Critique → Verification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B6C63"/>
                </a:solidFill>
                <a:latin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6F52"/>
                </a:solidFill>
                <a:latin typeface="Malgun Gothic"/>
              </a:rPr>
              <a:t>09 / COMPETITIVE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A25"/>
                </a:solidFill>
                <a:latin typeface="Malgun Gothic"/>
              </a:rPr>
              <a:t>우리가 이기려면 피해야 할 세 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6F52"/>
                </a:solidFill>
                <a:latin typeface="Malgun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25"/>
                </a:solidFill>
                <a:latin typeface="Malgun Gothic"/>
              </a:rPr>
              <a:t>기능 모음이 되는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9202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C63"/>
                </a:solidFill>
                <a:latin typeface="Malgun Gothic"/>
              </a:rPr>
              <a:t>STT·요약·RAG·자동작성만 나열하면 기존 제품보다 약하다.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6F52"/>
                </a:solidFill>
                <a:latin typeface="Malgun Gothi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25"/>
                </a:solidFill>
                <a:latin typeface="Malgun Gothic"/>
              </a:rPr>
              <a:t>“근거 표시”만 차별점으로 삼는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1546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C63"/>
                </a:solidFill>
                <a:latin typeface="Malgun Gothic"/>
              </a:rPr>
              <a:t>Pinpoint·NotebookLM·Trint도 source-grounding을 강화하고 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6F52"/>
                </a:solidFill>
                <a:latin typeface="Malgun Gothi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389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25"/>
                </a:solidFill>
                <a:latin typeface="Malgun Gothic"/>
              </a:rPr>
              <a:t>노드 UI 자체를 혁신으로 보는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3891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C63"/>
                </a:solidFill>
                <a:latin typeface="Malgun Gothic"/>
              </a:rPr>
              <a:t>Scrivener는 오래전부터 카드 기반 구조 편집을 제공한다.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6692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A25"/>
                </a:solidFill>
                <a:latin typeface="Malgun Gothic"/>
              </a:rPr>
              <a:t>따라서 moat 후보는 “근거의 정확한 위치 + 문단 구조 + 작성 이력”을 하나의 graph로 유지하는 경험.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B6C63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6F52"/>
                </a:solidFill>
                <a:latin typeface="Malgun Gothic"/>
              </a:rPr>
              <a:t>10 /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A25"/>
                </a:solidFill>
                <a:latin typeface="Malgun Gothic"/>
              </a:rPr>
              <a:t>차별화는 아직 가설이다. 기자에게 확인해야 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10469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6F52"/>
                </a:solidFill>
                <a:latin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011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25"/>
                </a:solidFill>
                <a:latin typeface="Malgun Gothic"/>
              </a:rPr>
              <a:t>긴 기사에서 “이 문단이 어떤 취재자료에서 왔는지” 다시 찾기 어려운가?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88920"/>
            <a:ext cx="10469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7180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6F52"/>
                </a:solidFill>
                <a:latin typeface="Malgun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926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25"/>
                </a:solidFill>
                <a:latin typeface="Malgun Gothic"/>
              </a:rPr>
              <a:t>여러 녹취·문서·메모를 오가며 어느 자료를 어디에 썼는지 관리하기 어려운가?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03320"/>
            <a:ext cx="10469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88620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6F52"/>
                </a:solidFill>
                <a:latin typeface="Malgun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840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25"/>
                </a:solidFill>
                <a:latin typeface="Malgun Gothic"/>
              </a:rPr>
              <a:t>AI가 답을 요약하는 것보다 실제 페이지/녹음 구간을 즉시 여는 것이 중요한가?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617720"/>
            <a:ext cx="10469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80060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6F52"/>
                </a:solidFill>
                <a:latin typeface="Malgun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754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25"/>
                </a:solidFill>
                <a:latin typeface="Malgun Gothic"/>
              </a:rPr>
              <a:t>문단을 카드처럼 재배치하고 AI가 역할·소제목을 붙이는 방식이 실제 편집보다 빠른가?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76F52"/>
                </a:solidFill>
                <a:latin typeface="Malgun Gothic"/>
              </a:rPr>
              <a:t>다음 단계: 설문 + 5~10명 심층 인터뷰 + 현재 UI 데모 관찰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B6C63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6F52"/>
                </a:solidFill>
                <a:latin typeface="Malgun Gothic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F2A25"/>
                </a:solidFill>
                <a:latin typeface="Malgun Gothic"/>
              </a:rPr>
              <a:t>짧은 글은 자동화하고,
긴 글은 구조화한다.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788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A25"/>
                </a:solidFill>
                <a:latin typeface="Malgun Gothic"/>
              </a:rPr>
              <a:t>NodeArticle은 취재자료부터 작성·검증·편집까지 연결하면서
각 문단이 어떤 근거에서 만들어졌는지를 끝까지 추적할 수 있게 하는 AI 글쓰기 워크스페이스.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4251960"/>
            <a:ext cx="10698480" cy="1005840"/>
          </a:xfrm>
          <a:prstGeom prst="roundRect">
            <a:avLst/>
          </a:prstGeom>
          <a:solidFill>
            <a:srgbClr val="E1EBE6"/>
          </a:solidFill>
          <a:ln w="12700">
            <a:solidFill>
              <a:srgbClr val="E1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55371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76F52"/>
                </a:solidFill>
                <a:latin typeface="Malgun Gothic"/>
              </a:rPr>
              <a:t>“AI가 글을 써주는 에디터” → “근거와 글의 구조를 끝까지 연결하는 시스템”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B6C63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